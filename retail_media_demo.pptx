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rot="1">
        <a:gsLst>
          <a:gs pos="0">
            <a:srgbClr val="001A33"/>
          </a:gs>
          <a:gs pos="100000">
            <a:srgbClr val="0A3A6E"/>
          </a:gs>
        </a:gsLst>
        <a:lin ang="8100000" scaled="0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C4CC"/>
                </a:solidFill>
              </a:defRPr>
            </a:pPr>
            <a:r>
              <a:t>NECTAR360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</a:defRPr>
            </a:pPr>
            <a:r>
              <a:t>Retail Media Performance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66160"/>
            <a:ext cx="10515600" cy="25400"/>
          </a:xfrm>
          <a:prstGeom prst="rect">
            <a:avLst/>
          </a:prstGeom>
          <a:solidFill>
            <a:srgbClr val="00C4CC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66A3E0"/>
                </a:solidFill>
              </a:defRPr>
            </a:pPr>
            <a:r>
              <a:t>Q1 2026 — Sponsored &amp; Display Campaign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1">
                <a:solidFill>
                  <a:srgbClr val="66A3E0"/>
                </a:solidFill>
              </a:defRPr>
            </a:pPr>
            <a:r>
              <a:t>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3716000" cy="411480"/>
          </a:xfrm>
          <a:prstGeom prst="rect">
            <a:avLst/>
          </a:prstGeom>
          <a:solidFill>
            <a:srgbClr val="001A33"/>
          </a:solidFill>
          <a:ln>
            <a:solidFill>
              <a:srgbClr val="00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66A3E0"/>
                </a:solidFill>
              </a:defRPr>
            </a:pPr>
            <a:r>
              <a:t>TAU — The Independent Marketing Intelligence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rot="1">
        <a:gsLst>
          <a:gs pos="0">
            <a:srgbClr val="051428"/>
          </a:gs>
          <a:gs pos="100000">
            <a:srgbClr val="0D1B2A"/>
          </a:gs>
        </a:gsLst>
        <a:lin ang="9000000" scaled="0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</a:defRPr>
            </a:pPr>
            <a:r>
              <a:t>Spend by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C4CC"/>
                </a:solidFill>
              </a:defRPr>
            </a:pPr>
            <a:r>
              <a:t>↗  Total spend distributed across key retail media channels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3716000" cy="411480"/>
          </a:xfrm>
          <a:prstGeom prst="rect">
            <a:avLst/>
          </a:prstGeom>
          <a:solidFill>
            <a:srgbClr val="001A33"/>
          </a:solidFill>
          <a:ln>
            <a:solidFill>
              <a:srgbClr val="00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66A3E0"/>
                </a:solidFill>
              </a:defRPr>
            </a:pPr>
            <a:r>
              <a:t>TAU — The Independent Marketing Intelligence Architect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rot="1">
        <a:gsLst>
          <a:gs pos="0">
            <a:srgbClr val="051428"/>
          </a:gs>
          <a:gs pos="100000">
            <a:srgbClr val="0D1B2A"/>
          </a:gs>
        </a:gsLst>
        <a:lin ang="9000000" scaled="0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</a:defRPr>
            </a:pPr>
            <a:r>
              <a:t>ROAS Performance by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C4CC"/>
                </a:solidFill>
              </a:defRPr>
            </a:pPr>
            <a:r>
              <a:t>↗  Sponsored Products delivers highest return on ad spend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3716000" cy="411480"/>
          </a:xfrm>
          <a:prstGeom prst="rect">
            <a:avLst/>
          </a:prstGeom>
          <a:solidFill>
            <a:srgbClr val="001A33"/>
          </a:solidFill>
          <a:ln>
            <a:solidFill>
              <a:srgbClr val="00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66A3E0"/>
                </a:solidFill>
              </a:defRPr>
            </a:pPr>
            <a:r>
              <a:t>TAU — The Independent Marketing Intelligence Architect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rot="1">
        <a:gsLst>
          <a:gs pos="0">
            <a:srgbClr val="051428"/>
          </a:gs>
          <a:gs pos="100000">
            <a:srgbClr val="0D1B2A"/>
          </a:gs>
        </a:gsLst>
        <a:lin ang="9000000" scaled="0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</a:defRPr>
            </a:pPr>
            <a:r>
              <a:t>Spend vs. Revenue by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C4CC"/>
                </a:solidFill>
              </a:defRPr>
            </a:pPr>
            <a:r>
              <a:t>↗  Revenue consistently outpaces spend across all channels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3716000" cy="411480"/>
          </a:xfrm>
          <a:prstGeom prst="rect">
            <a:avLst/>
          </a:prstGeom>
          <a:solidFill>
            <a:srgbClr val="001A33"/>
          </a:solidFill>
          <a:ln>
            <a:solidFill>
              <a:srgbClr val="00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66A3E0"/>
                </a:solidFill>
              </a:defRPr>
            </a:pPr>
            <a:r>
              <a:t>TAU — The Independent Marketing Intelligence Architect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rot="1">
        <a:gsLst>
          <a:gs pos="0">
            <a:srgbClr val="051428"/>
          </a:gs>
          <a:gs pos="100000">
            <a:srgbClr val="0D1B2A"/>
          </a:gs>
        </a:gsLst>
        <a:lin ang="9000000" scaled="0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</a:defRPr>
            </a:pPr>
            <a:r>
              <a:t>Spend Share by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C4CC"/>
                </a:solidFill>
              </a:defRPr>
            </a:pPr>
            <a:r>
              <a:t>↗  Sponsored Products accounts for the majority of investment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3716000" cy="411480"/>
          </a:xfrm>
          <a:prstGeom prst="rect">
            <a:avLst/>
          </a:prstGeom>
          <a:solidFill>
            <a:srgbClr val="001A33"/>
          </a:solidFill>
          <a:ln>
            <a:solidFill>
              <a:srgbClr val="00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66A3E0"/>
                </a:solidFill>
              </a:defRPr>
            </a:pPr>
            <a:r>
              <a:t>TAU — The Independent Marketing Intelligence Architect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rot="1">
        <a:gsLst>
          <a:gs pos="0">
            <a:srgbClr val="051428"/>
          </a:gs>
          <a:gs pos="100000">
            <a:srgbClr val="0D1B2A"/>
          </a:gs>
        </a:gsLst>
        <a:lin ang="9000000" scaled="0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</a:defRPr>
            </a:pPr>
            <a:r>
              <a:t>6-Month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C4CC"/>
                </a:solidFill>
              </a:defRPr>
            </a:pPr>
            <a:r>
              <a:t>↗  Strong revenue growth driven by increasing spend efficiency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3716000" cy="411480"/>
          </a:xfrm>
          <a:prstGeom prst="rect">
            <a:avLst/>
          </a:prstGeom>
          <a:solidFill>
            <a:srgbClr val="001A33"/>
          </a:solidFill>
          <a:ln>
            <a:solidFill>
              <a:srgbClr val="00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66A3E0"/>
                </a:solidFill>
              </a:defRPr>
            </a:pPr>
            <a:r>
              <a:t>TAU — The Independent Marketing Intelligence Architect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rot="1">
        <a:gsLst>
          <a:gs pos="0">
            <a:srgbClr val="051428"/>
          </a:gs>
          <a:gs pos="100000">
            <a:srgbClr val="0A2848"/>
          </a:gs>
        </a:gsLst>
        <a:lin ang="9600000" scaled="0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19050"/>
          </a:xfrm>
          <a:prstGeom prst="rect">
            <a:avLst/>
          </a:prstGeom>
          <a:solidFill>
            <a:srgbClr val="3385D6"/>
          </a:solidFill>
          <a:ln>
            <a:solidFill>
              <a:srgbClr val="338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100">
                <a:solidFill>
                  <a:srgbClr val="FFFFFF"/>
                </a:solidFill>
              </a:defRPr>
              <a:buChar char="▸"/>
            </a:pPr>
            <a:r>
              <a:t>Total retail media investment: £220k in March 2026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100">
                <a:solidFill>
                  <a:srgbClr val="66A3E0"/>
                </a:solidFill>
              </a:defRPr>
              <a:buChar char="▸"/>
            </a:pPr>
            <a:r>
              <a:t>Blended ROAS of 5.8x across all channels — up 12% MoM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100">
                <a:solidFill>
                  <a:srgbClr val="66A3E0"/>
                </a:solidFill>
              </a:defRPr>
              <a:buChar char="▸"/>
            </a:pPr>
            <a:r>
              <a:t>Sponsored Products remains top-performing channel at 7.0x ROAS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100">
                <a:solidFill>
                  <a:srgbClr val="66A3E0"/>
                </a:solidFill>
              </a:defRPr>
              <a:buChar char="▸"/>
            </a:pPr>
            <a:r>
              <a:t>Video CPM down 18% while impressions grew 23%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100">
                <a:solidFill>
                  <a:srgbClr val="66A3E0"/>
                </a:solidFill>
              </a:defRPr>
              <a:buChar char="▸"/>
            </a:pPr>
            <a:r>
              <a:t>Incremental revenue attributed to retail media: £1.54M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3716000" cy="411480"/>
          </a:xfrm>
          <a:prstGeom prst="rect">
            <a:avLst/>
          </a:prstGeom>
          <a:solidFill>
            <a:srgbClr val="001A33"/>
          </a:solidFill>
          <a:ln>
            <a:solidFill>
              <a:srgbClr val="00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66A3E0"/>
                </a:solidFill>
              </a:defRPr>
            </a:pPr>
            <a:r>
              <a:t>TAU — The Independent Marketing Intelligence Architect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rot="1">
        <a:gsLst>
          <a:gs pos="0">
            <a:srgbClr val="002B55"/>
          </a:gs>
          <a:gs pos="100000">
            <a:srgbClr val="004A8A"/>
          </a:gs>
        </a:gsLst>
        <a:lin ang="7200000" scaled="0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1277295" cy="25400"/>
          </a:xfrm>
          <a:prstGeom prst="rect">
            <a:avLst/>
          </a:prstGeom>
          <a:solidFill>
            <a:srgbClr val="00C4CC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66A3E0"/>
                </a:solidFill>
              </a:defRPr>
            </a:pPr>
            <a:r>
              <a:t>Shift budget toward highest-ROAS channels and scale seasonal peaks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3716000" cy="411480"/>
          </a:xfrm>
          <a:prstGeom prst="rect">
            <a:avLst/>
          </a:prstGeom>
          <a:solidFill>
            <a:srgbClr val="001A33"/>
          </a:solidFill>
          <a:ln>
            <a:solidFill>
              <a:srgbClr val="00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66A3E0"/>
                </a:solidFill>
              </a:defRPr>
            </a:pPr>
            <a:r>
              <a:t>TAU — The Independent Marketing Intelligence Architect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rot="1">
        <a:gsLst>
          <a:gs pos="0">
            <a:srgbClr val="051428"/>
          </a:gs>
          <a:gs pos="100000">
            <a:srgbClr val="0A2848"/>
          </a:gs>
        </a:gsLst>
        <a:lin ang="9600000" scaled="0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</a:defRPr>
            </a:pPr>
            <a:r>
              <a:t>Recommended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19050"/>
          </a:xfrm>
          <a:prstGeom prst="rect">
            <a:avLst/>
          </a:prstGeom>
          <a:solidFill>
            <a:srgbClr val="3385D6"/>
          </a:solidFill>
          <a:ln>
            <a:solidFill>
              <a:srgbClr val="338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100">
                <a:solidFill>
                  <a:srgbClr val="FFFFFF"/>
                </a:solidFill>
              </a:defRPr>
              <a:buChar char="▸"/>
            </a:pPr>
            <a:r>
              <a:t>Increase Sponsored Products budget by 15% in April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100">
                <a:solidFill>
                  <a:srgbClr val="66A3E0"/>
                </a:solidFill>
              </a:defRPr>
              <a:buChar char="▸"/>
            </a:pPr>
            <a:r>
              <a:t>Expand Display retargeting to mid-funnel audiences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100">
                <a:solidFill>
                  <a:srgbClr val="66A3E0"/>
                </a:solidFill>
              </a:defRPr>
              <a:buChar char="▸"/>
            </a:pPr>
            <a:r>
              <a:t>Test Video creative A/B for improved VTR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100">
                <a:solidFill>
                  <a:srgbClr val="66A3E0"/>
                </a:solidFill>
              </a:defRPr>
              <a:buChar char="▸"/>
            </a:pPr>
            <a:r>
              <a:t>Implement dayparting to reduce off-peak CPC waste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100">
                <a:solidFill>
                  <a:srgbClr val="66A3E0"/>
                </a:solidFill>
              </a:defRPr>
              <a:buChar char="▸"/>
            </a:pPr>
            <a:r>
              <a:t>Launch new category page placements ahead of summer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3716000" cy="411480"/>
          </a:xfrm>
          <a:prstGeom prst="rect">
            <a:avLst/>
          </a:prstGeom>
          <a:solidFill>
            <a:srgbClr val="001A33"/>
          </a:solidFill>
          <a:ln>
            <a:solidFill>
              <a:srgbClr val="00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66A3E0"/>
                </a:solidFill>
              </a:defRPr>
            </a:pPr>
            <a:r>
              <a:t>TAU — The Independent Marketing Intelligence Architect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rot="1">
        <a:gsLst>
          <a:gs pos="0">
            <a:srgbClr val="001A33"/>
          </a:gs>
          <a:gs pos="100000">
            <a:srgbClr val="003366"/>
          </a:gs>
        </a:gsLst>
        <a:lin ang="8100000" scaled="0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</a:defRPr>
            </a:pPr>
            <a:r>
              <a:t>Next Steps &amp; Contact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474720"/>
            <a:ext cx="11277295" cy="2540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6A3E0"/>
                </a:solidFill>
              </a:defRPr>
            </a:pPr>
            <a:r>
              <a:t>April planning session — w/c 7 April</a:t>
            </a:r>
            <a:br/>
            <a:r>
              <a:t>Budget reallocation sign-off by 31 March</a:t>
            </a:r>
            <a:br/>
            <a:r>
              <a:t>Contact: strategy@tau.ai  |  tau.ai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3716000" cy="411480"/>
          </a:xfrm>
          <a:prstGeom prst="rect">
            <a:avLst/>
          </a:prstGeom>
          <a:solidFill>
            <a:srgbClr val="001A33"/>
          </a:solidFill>
          <a:ln>
            <a:solidFill>
              <a:srgbClr val="00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66A3E0"/>
                </a:solidFill>
              </a:defRPr>
            </a:pPr>
            <a:r>
              <a:t>TAU — The Independent Marketing Intelligence Architect  |  tau.ai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