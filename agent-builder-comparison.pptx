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</a:defRPr>
            </a:pPr>
            <a:r>
              <a:t>Build Your Own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Platform Comparison &amp; Recommendation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800" b="0">
                <a:solidFill>
                  <a:srgbClr val="666666"/>
                </a:solidFill>
              </a:defRPr>
            </a:pPr>
            <a:r>
              <a:t>NinjaCat  |  Akkio  |  MindStudio  |  Relevance AI  |  Lyzr</a:t>
            </a:r>
          </a:p>
          <a:p>
            <a:pPr>
              <a:spcBef>
                <a:spcPts val="400"/>
              </a:spcBef>
              <a:defRPr sz="1800" b="0">
                <a:solidFill>
                  <a:srgbClr val="666666"/>
                </a:solidFill>
              </a:defRPr>
            </a:pPr>
            <a:r>
              <a:t>Google Vertex AI  |  Google Workspace Studio  |  Microsoft Copilot Studio  |  Claude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600" b="0">
                <a:solidFill>
                  <a:srgbClr val="00D4AA"/>
                </a:solidFill>
              </a:defRPr>
            </a:pPr>
            <a:r>
              <a:t>TAU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Agent Types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How we categorise agents by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37160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Data Collectors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Gather, ingest &amp; normalise data from APIs, feeds,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Campaign metrics, CRM sync, competitor monitoring, web scraping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37160" cy="640080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666"/>
                </a:solidFill>
              </a:defRPr>
            </a:pPr>
            <a:r>
              <a:t>Alerting /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Watch for thresholds, anomalies, changes &amp; notify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Budget pacing alerts, performance drops, brand mention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37160" cy="640080"/>
          </a:xfrm>
          <a:prstGeom prst="rect">
            <a:avLst/>
          </a:prstGeom>
          <a:solidFill>
            <a:srgbClr val="66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FF"/>
                </a:solidFill>
              </a:defRPr>
            </a:pPr>
            <a:r>
              <a:t>Analysis /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Process data to surface patterns, trends &amp;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08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Cross-channel attribution, audience insights, creative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37160" cy="6400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C00"/>
                </a:solidFill>
              </a:defRPr>
            </a:pPr>
            <a:r>
              <a:t>Action / Optimisation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Take autonomous actions based on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931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Pause underperformers, reallocate budget, adjust bids, A/B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54880"/>
            <a:ext cx="137160" cy="64008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66FF"/>
                </a:solidFill>
              </a:defRPr>
            </a:pPr>
            <a:r>
              <a:t>Content / Creative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Generate reports, copy, emails, presentations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754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Client reports, ad copy, email drafts, social posts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77840"/>
            <a:ext cx="137160" cy="640080"/>
          </a:xfrm>
          <a:prstGeom prst="rect">
            <a:avLst/>
          </a:prstGeom>
          <a:solidFill>
            <a:srgbClr val="66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FF99"/>
                </a:solidFill>
              </a:defRPr>
            </a:pPr>
            <a:r>
              <a:t>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521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Coordinate multiple agents in workflows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577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Multi-step pipelines: collect &gt; analyse &gt; alert &gt; act &gt;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Platform Comparison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645920" cy="5486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914400"/>
            <a:ext cx="914400" cy="5486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</a:t>
            </a:r>
            <a:br/>
            <a:r>
              <a:t>Collectors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914400"/>
            <a:ext cx="914400" cy="5486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Alerts /</a:t>
            </a:r>
            <a:br/>
            <a:r>
              <a:t>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914400"/>
            <a:ext cx="914400" cy="5486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Analysis /</a:t>
            </a:r>
            <a:br/>
            <a:r>
              <a:t>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914400"/>
            <a:ext cx="914400" cy="5486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Action /</a:t>
            </a:r>
            <a:br/>
            <a:r>
              <a:t>Optimise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914400"/>
            <a:ext cx="914400" cy="5486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Content /</a:t>
            </a:r>
            <a:br/>
            <a:r>
              <a:t>Creative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914400"/>
            <a:ext cx="1005840" cy="5486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Orchestration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914400"/>
            <a:ext cx="731520" cy="5486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No-Code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914400"/>
            <a:ext cx="731520" cy="5486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White</a:t>
            </a:r>
            <a:br/>
            <a:r>
              <a:t>Label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914400"/>
            <a:ext cx="731520" cy="5486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Free</a:t>
            </a:r>
            <a:br/>
            <a:r>
              <a:t>Tier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63040"/>
            <a:ext cx="16459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1A1A1A"/>
                </a:solidFill>
              </a:defRPr>
            </a:pPr>
            <a:r>
              <a:t>NinjaCat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14630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4630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4630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4630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14630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100584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9900"/>
                </a:solidFill>
              </a:defRPr>
            </a:pPr>
            <a:r>
              <a:t>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4630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4630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3333"/>
                </a:solidFill>
              </a:defRPr>
            </a:pPr>
            <a:r>
              <a:t>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4630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3333"/>
                </a:solidFill>
              </a:defRPr>
            </a:pPr>
            <a: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92024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1A1A1A"/>
                </a:solidFill>
              </a:defRPr>
            </a:pPr>
            <a:r>
              <a:t>Akkio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19202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19202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9900"/>
                </a:solidFill>
              </a:defRPr>
            </a:pPr>
            <a: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19202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9202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3333"/>
                </a:solidFill>
              </a:defRPr>
            </a:pPr>
            <a: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19202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192024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3333"/>
                </a:solidFill>
              </a:defRPr>
            </a:pPr>
            <a: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192024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192024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192024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</a:defRPr>
            </a:pPr>
            <a:r>
              <a:t>Trial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377440"/>
            <a:ext cx="16459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1A1A1A"/>
                </a:solidFill>
              </a:defRPr>
            </a:pPr>
            <a:r>
              <a:t>MindStudio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23774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23774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23774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23774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9900"/>
                </a:solidFill>
              </a:defRPr>
            </a:pPr>
            <a:r>
              <a:t>Partial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23774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2377440"/>
            <a:ext cx="100584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9900"/>
                </a:solidFill>
              </a:defRPr>
            </a:pPr>
            <a:r>
              <a:t>Partial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23774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23774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3333"/>
                </a:solidFill>
              </a:defRPr>
            </a:pPr>
            <a: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23774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83464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1A1A1A"/>
                </a:solidFill>
              </a:defRPr>
            </a:pPr>
            <a:r>
              <a:t>Relevance AI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0" y="28346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28346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9900"/>
                </a:solidFill>
              </a:defRPr>
            </a:pPr>
            <a:r>
              <a:t>Partial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28346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28346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9900"/>
                </a:solidFill>
              </a:defRPr>
            </a:pPr>
            <a:r>
              <a:t>Partial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28346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283464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283464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</a:defRPr>
            </a:pPr>
            <a: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283464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3333"/>
                </a:solidFill>
              </a:defRPr>
            </a:pPr>
            <a: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283464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291840"/>
            <a:ext cx="16459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1A1A1A"/>
                </a:solidFill>
              </a:defRPr>
            </a:pPr>
            <a:r>
              <a:t>Lyzr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0" y="32918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26080" y="32918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9900"/>
                </a:solidFill>
              </a:defRPr>
            </a:pPr>
            <a:r>
              <a:t>Partial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0" y="32918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2918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9900"/>
                </a:solidFill>
              </a:defRPr>
            </a:pPr>
            <a:r>
              <a:t>Partial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0" y="32918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3291840"/>
            <a:ext cx="100584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0" y="32918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21040" y="32918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3333"/>
                </a:solidFill>
              </a:defRPr>
            </a:pPr>
            <a:r>
              <a:t>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32918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</a:defRPr>
            </a:pPr>
            <a:r>
              <a:t>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749039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1A1A1A"/>
                </a:solidFill>
              </a:defRPr>
            </a:pPr>
            <a:r>
              <a:t>Google Vertex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11680" y="3749039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49039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40480" y="3749039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54880" y="3749039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0" y="3749039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0" y="3749039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89520" y="3749039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</a:defRPr>
            </a:pPr>
            <a:r>
              <a:t>Low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21040" y="3749039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3333"/>
                </a:solidFill>
              </a:defRPr>
            </a:pPr>
            <a:r>
              <a:t>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52560" y="3749039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</a:defRPr>
            </a:pPr>
            <a:r>
              <a:t>GCP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206240"/>
            <a:ext cx="16459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1A1A1A"/>
                </a:solidFill>
              </a:defRPr>
            </a:pPr>
            <a:r>
              <a:t>Google Workspace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11680" y="42062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9900"/>
                </a:solidFill>
              </a:defRPr>
            </a:pPr>
            <a:r>
              <a:t>Partial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926080" y="42062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9900"/>
                </a:solidFill>
              </a:defRPr>
            </a:pPr>
            <a:r>
              <a:t>Partial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42062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54880" y="42062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9900"/>
                </a:solidFill>
              </a:defRPr>
            </a:pPr>
            <a:r>
              <a:t>Partial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80" y="42062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83680" y="4206240"/>
            <a:ext cx="100584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3333"/>
                </a:solidFill>
              </a:defRPr>
            </a:pPr>
            <a:r>
              <a:t>No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89520" y="42062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21040" y="42062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3333"/>
                </a:solidFill>
              </a:defRPr>
            </a:pPr>
            <a:r>
              <a:t>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52560" y="42062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</a:defRPr>
            </a:pPr>
            <a:r>
              <a:t>Plan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466344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1A1A1A"/>
                </a:solidFill>
              </a:defRPr>
            </a:pPr>
            <a:r>
              <a:t>Copilot Studio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11680" y="46634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26080" y="46634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840480" y="46634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46634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69280" y="466344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83680" y="466344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589520" y="466344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21040" y="466344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3333"/>
                </a:solidFill>
              </a:defRPr>
            </a:pPr>
            <a:r>
              <a:t>No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52560" y="466344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</a:defRPr>
            </a:pPr>
            <a:r>
              <a:t>Trial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5120640"/>
            <a:ext cx="16459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1A1A1A"/>
                </a:solidFill>
              </a:defRPr>
            </a:pPr>
            <a:r>
              <a:t>Claude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11680" y="51206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926080" y="51206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9900"/>
                </a:solidFill>
              </a:defRPr>
            </a:pPr>
            <a:r>
              <a:t>Partial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840480" y="51206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754880" y="51206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669280" y="5120640"/>
            <a:ext cx="91440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83680" y="5120640"/>
            <a:ext cx="100584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0AA55"/>
                </a:solidFill>
              </a:defRPr>
            </a:pPr>
            <a:r>
              <a:t>Yes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89520" y="51206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</a:defRPr>
            </a:pPr>
            <a:r>
              <a:t>Code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321040" y="51206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3333"/>
                </a:solidFill>
              </a:defRPr>
            </a:pPr>
            <a:r>
              <a:t>No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52560" y="5120640"/>
            <a:ext cx="73152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</a:defRPr>
            </a:pPr>
            <a:r>
              <a:t>Plan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576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Y = Full support  |  P = Partial/limited  |  N = Not available  |  Low = Low-code (some coding needed)  |  Code = Code-first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Key Limitations by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</a:defRPr>
            </a:pPr>
            <a:r>
              <a:t>NinjaCat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Marketing only - no general-purpose agents. Closed ecosystem. No white-label. Premium pricing, no free 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276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</a:defRPr>
            </a:pPr>
            <a:r>
              <a:t>Akkio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276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Analytics/BI focused - no action agents (can't pause campaigns, adjust bids). No alerting. No multi-agent orchestration.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942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</a:defRPr>
            </a:pPr>
            <a:r>
              <a:t>MindStudio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4942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No native data connectors for ad platforms. No white-label. Orchestration is basic (no true multi-agent teams).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</a:defRPr>
            </a:pPr>
            <a:r>
              <a:t>Relevance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8712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Sales/GTM focus - not built for media/advertising. Credit-based pricing scales fast. 20% markup on LLM costs.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93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</a:defRPr>
            </a:pPr>
            <a:r>
              <a:t>Lyzr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930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Enterprise focus - overkill for small teams. Limited pre-built marketing templates. Pricing not transparent.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</a:defRPr>
            </a:pPr>
            <a:r>
              <a:t>Google Vertex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Requires GCP expertise. Steep learning curve. Code-heavy for advanced agents. Costs can spiral with scale.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6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</a:defRPr>
            </a:pPr>
            <a:r>
              <a:t>Google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736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Limited to Workspace data. No ad platform integrations. No action agents. Basic agent capabilities.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5838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</a:defRPr>
            </a:pPr>
            <a:r>
              <a:t>Copilot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35838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Microsoft ecosystem lock-in. Limited ad platform connectors. Enterprise pricing. Complex for simple use cases.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8017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</a:defRPr>
            </a:pPr>
            <a:r>
              <a:t>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98017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Code-first - not for non-technical users. No native ad platform connectors. No built-in scheduling/triggers.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NinjaCat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AI Agents Built for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BB"/>
                </a:solidFill>
              </a:defRPr>
            </a:pPr>
            <a:r>
              <a:t>ninjacat.io</a:t>
            </a:r>
          </a:p>
        </p:txBody>
      </p:sp>
      <p:pic>
        <p:nvPicPr>
          <p:cNvPr id="5" name="Picture 4" descr="ninjacat-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Agent Capabilities: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Data Collectors: Auto-ingest from Google Ads, Meta, GA4, LinkedIn, CRM, 100+ sources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Alerts: Spend pacing, CPA targets, impression share, engagement anomalies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Analysis: Cross-account benchmarking, KPI trend digests, creative performance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Actions: Pause underperformers, reallocate budgets, adjust bids automatically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Content: Auto-generate dashboards, performance summaries, client briefs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300" b="1">
                <a:solidFill>
                  <a:srgbClr val="00AA55"/>
                </a:solidFill>
              </a:defRPr>
            </a:pPr>
            <a:r>
              <a:t>Strengths: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Most complete marketing agent platform. Data Cloud unifies all sources. Agents are pre-trained on ad-tech patterns.</a:t>
            </a:r>
          </a:p>
          <a:p>
            <a:pPr>
              <a:spcBef>
                <a:spcPts val="1000"/>
              </a:spcBef>
              <a:defRPr sz="1300" b="1">
                <a:solidFill>
                  <a:srgbClr val="FF6666"/>
                </a:solidFill>
              </a:defRPr>
            </a:pPr>
            <a:r>
              <a:t>Limitations: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Marketing only. No general-purpose agents. Closed ecosystem. No free tier.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43600"/>
            <a:ext cx="10972800" cy="640080"/>
          </a:xfrm>
          <a:prstGeom prst="round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BEST FOR: Agencies wanting turnkey marketing AI agents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Akkio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White-Label Generative BI for Agencies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BB"/>
                </a:solidFill>
              </a:defRPr>
            </a:pPr>
            <a:r>
              <a:t>akkio.com</a:t>
            </a:r>
          </a:p>
        </p:txBody>
      </p:sp>
      <p:pic>
        <p:nvPicPr>
          <p:cNvPr id="5" name="Picture 4" descr="akkio-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Agent Capabilities: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Data Collectors: Connect client data sources, auto-clean and prepare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Analysis: Chat Explore (natural language queries), ML predictions, forecasts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Content: Branded dashboards, insights reports, visualisations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Alerts: Limited - no proactive monitoring or threshold alerts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Actions: None - analytics only, no campaign actions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300" b="1">
                <a:solidFill>
                  <a:srgbClr val="00AA55"/>
                </a:solidFill>
              </a:defRPr>
            </a:pPr>
            <a:r>
              <a:t>Strengths: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Only true white-label option. Agencies embed under their own brand. Great for client self-service analytics.</a:t>
            </a:r>
          </a:p>
          <a:p>
            <a:pPr>
              <a:spcBef>
                <a:spcPts val="1000"/>
              </a:spcBef>
              <a:defRPr sz="1300" b="1">
                <a:solidFill>
                  <a:srgbClr val="FF6666"/>
                </a:solidFill>
              </a:defRPr>
            </a:pPr>
            <a:r>
              <a:t>Limitations: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No action agents. No alerting. No orchestration. Analytics/BI only - not a full agent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43600"/>
            <a:ext cx="10972800" cy="640080"/>
          </a:xfrm>
          <a:prstGeom prst="round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BEST FOR: Agencies wanting to resell AI analytics under their brand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MindStudio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200+ AI Models, No-Code Agent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BB"/>
                </a:solidFill>
              </a:defRPr>
            </a:pPr>
            <a:r>
              <a:t>mindstudio.ai</a:t>
            </a:r>
          </a:p>
        </p:txBody>
      </p:sp>
      <p:pic>
        <p:nvPicPr>
          <p:cNvPr id="5" name="Picture 4" descr="mind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Agent Capabilities: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Data Collectors: API calls, web scraping, SQL queries, webhook triggers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Alerts: Scheduled agents + webhook triggers for monitoring workflows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Analysis: Data viz agents, research agents, market analysis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Content: Email drafts, reports, social posts, ad copy — 100+ templates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Actions: Partial - can call APIs but no native ad platform connectors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300" b="1">
                <a:solidFill>
                  <a:srgbClr val="00AA55"/>
                </a:solidFill>
              </a:defRPr>
            </a:pPr>
            <a:r>
              <a:t>Strengths: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Most model-agnostic (200+ models). Dynamic Tool Use. Deploy anywhere (web, email, API, browser extension).</a:t>
            </a:r>
          </a:p>
          <a:p>
            <a:pPr>
              <a:spcBef>
                <a:spcPts val="1000"/>
              </a:spcBef>
              <a:defRPr sz="1300" b="1">
                <a:solidFill>
                  <a:srgbClr val="FF6666"/>
                </a:solidFill>
              </a:defRPr>
            </a:pPr>
            <a:r>
              <a:t>Limitations: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No native ad platform integrations. No white-label. Basic orchestration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43600"/>
            <a:ext cx="10972800" cy="640080"/>
          </a:xfrm>
          <a:prstGeom prst="round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BEST FOR: Teams wanting maximum flexibility across AI models and use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Relevance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Multi-Agent AI Workforce for Sales &amp; GTM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BB"/>
                </a:solidFill>
              </a:defRPr>
            </a:pPr>
            <a:r>
              <a:t>relevanceai.com</a:t>
            </a:r>
          </a:p>
        </p:txBody>
      </p:sp>
      <p:pic>
        <p:nvPicPr>
          <p:cNvPr id="5" name="Picture 4" descr="relevance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Agent Capabilities: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Data Collectors: Lead research, CRM enrichment, competitor analysis, web research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Alerts: Limited - notification on task completion, no real-time monitoring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Analysis: Deal intelligence, campaign performance, market data analysis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Content: Proposals, email personalisation, content repurposing, blog drafts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Orchestration: Multi-agent teams (research &gt; verify &gt; write &gt; distribute)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300" b="1">
                <a:solidFill>
                  <a:srgbClr val="00AA55"/>
                </a:solidFill>
              </a:defRPr>
            </a:pPr>
            <a:r>
              <a:t>Strengths: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Best multi-agent orchestration. 100+ templates. Agents collaborate as teams on complex tasks.</a:t>
            </a:r>
          </a:p>
          <a:p>
            <a:pPr>
              <a:spcBef>
                <a:spcPts val="1000"/>
              </a:spcBef>
              <a:defRPr sz="1300" b="1">
                <a:solidFill>
                  <a:srgbClr val="FF6666"/>
                </a:solidFill>
              </a:defRPr>
            </a:pPr>
            <a:r>
              <a:t>Limitations: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Sales/GTM focus. Credit pricing scales fast. 20% LLM markup without own API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43600"/>
            <a:ext cx="10972800" cy="640080"/>
          </a:xfrm>
          <a:prstGeom prst="round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BEST FOR: Sales teams wanting autonomous BDR and research 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Lyzr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Enterprise AI Agent Studio with Safe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BB"/>
                </a:solidFill>
              </a:defRPr>
            </a:pPr>
            <a:r>
              <a:t>lyzr.ai</a:t>
            </a:r>
          </a:p>
        </p:txBody>
      </p:sp>
      <p:pic>
        <p:nvPicPr>
          <p:cNvPr id="5" name="Picture 4" descr="lyzr-agent-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Agent Capabilities: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Data Collectors: API connectors, custom tool integration, data pipelines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Alerts: Partial - workflow-triggered notifications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Analysis: LLM + ML hybrid for better accuracy, blueprints for support/ops/finance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Content: Report generation, customer communications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Orchestration: Solo agents, multi-agent systems, full orchestration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300" b="1">
                <a:solidFill>
                  <a:srgbClr val="00AA55"/>
                </a:solidFill>
              </a:defRPr>
            </a:pPr>
            <a:r>
              <a:t>Strengths: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Enterprise compliance (SOC2, GDPR, HIPAA, ISO 27001). Safe AI built into core. Flexible deployment.</a:t>
            </a:r>
          </a:p>
          <a:p>
            <a:pPr>
              <a:spcBef>
                <a:spcPts val="1000"/>
              </a:spcBef>
              <a:defRPr sz="1300" b="1">
                <a:solidFill>
                  <a:srgbClr val="FF6666"/>
                </a:solidFill>
              </a:defRPr>
            </a:pPr>
            <a:r>
              <a:t>Limitations: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Enterprise-focused - overkill for small teams. Limited marketing templates. Opaque pricing.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43600"/>
            <a:ext cx="10972800" cy="640080"/>
          </a:xfrm>
          <a:prstGeom prst="round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BEST FOR: Regulated industries needing compliance-first agent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Google Vertex AI Agent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Enterprise-Grade Agent Development on GCP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BB"/>
                </a:solidFill>
              </a:defRPr>
            </a:pPr>
            <a:r>
              <a:t>cloud.google.com/products/agent-builder</a:t>
            </a:r>
          </a:p>
        </p:txBody>
      </p:sp>
      <p:pic>
        <p:nvPicPr>
          <p:cNvPr id="5" name="Picture 4" descr="google-vertex-agent-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Agent Capabilities: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Data Collectors: BigQuery, Cloud Storage, 100+ connectors, Dataproc for large-scale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Alerts: Cloud Monitoring, auto-monitoring of agent behaviour and reasoning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Analysis: Multi-agent financial research, RAG agents, custom ML pipelines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Actions: Enterprise system connectors (ERP, procurement, HR), workflow automation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Orchestration: Agent Engine (managed runtime), directed graph workflows, ADK framework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300" b="1">
                <a:solidFill>
                  <a:srgbClr val="00AA55"/>
                </a:solidFill>
              </a:defRPr>
            </a:pPr>
            <a:r>
              <a:t>Strengths: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Most powerful and scalable. Open-source ADK. Full lifecycle management. Global scale.</a:t>
            </a:r>
          </a:p>
          <a:p>
            <a:pPr>
              <a:spcBef>
                <a:spcPts val="1000"/>
              </a:spcBef>
              <a:defRPr sz="1300" b="1">
                <a:solidFill>
                  <a:srgbClr val="FF6666"/>
                </a:solidFill>
              </a:defRPr>
            </a:pPr>
            <a:r>
              <a:t>Limitations: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Requires GCP expertise. Steep learning curve. Code-heavy. Costs can spiral.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43600"/>
            <a:ext cx="10972800" cy="640080"/>
          </a:xfrm>
          <a:prstGeom prst="round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BEST FOR: Engineering teams building production-grade agent systems at scale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Google Workspace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No-Code Agents for Google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BB"/>
                </a:solidFill>
              </a:defRPr>
            </a:pPr>
            <a:r>
              <a:t>workspace.google.com/studio</a:t>
            </a:r>
          </a:p>
        </p:txBody>
      </p:sp>
      <p:pic>
        <p:nvPicPr>
          <p:cNvPr id="5" name="Picture 4" descr="google-workspace-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Agent Capabilities: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Data Collectors: Partial - Gmail, Drive, Sheets, Calendar data only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Alerts: Partial - can trigger on Workspace events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Analysis: Summarise docs, analyse spreadsheets, extract email insights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Content: Draft emails, create docs, generate presentations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Actions: Partial - Workspace actions only (send email, create doc, update sheet)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300" b="1">
                <a:solidFill>
                  <a:srgbClr val="00AA55"/>
                </a:solidFill>
              </a:defRPr>
            </a:pPr>
            <a:r>
              <a:t>Strengths: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Zero friction for Google Workspace orgs. Build in minutes. No coding. Free with Business/Enterprise.</a:t>
            </a:r>
          </a:p>
          <a:p>
            <a:pPr>
              <a:spcBef>
                <a:spcPts val="1000"/>
              </a:spcBef>
              <a:defRPr sz="1300" b="1">
                <a:solidFill>
                  <a:srgbClr val="FF6666"/>
                </a:solidFill>
              </a:defRPr>
            </a:pPr>
            <a:r>
              <a:t>Limitations: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Limited to Workspace data. No ad platforms. No real agent orchestration. Basic capabilities.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43600"/>
            <a:ext cx="10972800" cy="640080"/>
          </a:xfrm>
          <a:prstGeom prst="round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BEST FOR: Quick internal automations within Google Workspace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Microsoft Copilot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Create, Customise and Launch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BB"/>
                </a:solidFill>
              </a:defRPr>
            </a:pPr>
            <a:r>
              <a:t>microsoft.com/copilot-studio</a:t>
            </a:r>
          </a:p>
        </p:txBody>
      </p:sp>
      <p:pic>
        <p:nvPicPr>
          <p:cNvPr id="5" name="Picture 4" descr="copilot-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Agent Capabilities: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Data Collectors: SharePoint, OneDrive, Planner, Forms, Dynamics 365, custom connectors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Alerts: Event triggers (file created, task completed, form submitted, schedule-based)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Analysis: Conversational analytics over M365 data, Power BI integration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Actions: Autonomous agents that monitor, decide, and execute without user prompts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Orchestration: Agent flows, multi-step automations, Power Automate integration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300" b="1">
                <a:solidFill>
                  <a:srgbClr val="00AA55"/>
                </a:solidFill>
              </a:defRPr>
            </a:pPr>
            <a:r>
              <a:t>Strengths: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Best autonomous agent triggers. Deep M365 integration. No-code. Enterprise-grade audit logging.</a:t>
            </a:r>
          </a:p>
          <a:p>
            <a:pPr>
              <a:spcBef>
                <a:spcPts val="1000"/>
              </a:spcBef>
              <a:defRPr sz="1300" b="1">
                <a:solidFill>
                  <a:srgbClr val="FF6666"/>
                </a:solidFill>
              </a:defRPr>
            </a:pPr>
            <a:r>
              <a:t>Limitations: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Microsoft ecosystem lock-in. Limited ad platform connectors. Enterprise pricing.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43600"/>
            <a:ext cx="10972800" cy="640080"/>
          </a:xfrm>
          <a:prstGeom prst="round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BEST FOR: Microsoft-heavy organisations wanting autonomous background agents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Claude (Anthropic)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AI Agents via Cowork &amp; Agent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BB"/>
                </a:solidFill>
              </a:defRPr>
            </a:pPr>
            <a:r>
              <a:t>claude.com/solutions/agents</a:t>
            </a:r>
          </a:p>
        </p:txBody>
      </p:sp>
      <p:pic>
        <p:nvPicPr>
          <p:cNvPr id="5" name="Picture 4" descr="claude-co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Agent Capabilities: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Data Collectors: Web scraping, API calls, file processing, MCP server integrations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Alerts: Partial - no built-in scheduling, needs external triggers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Analysis: Most capable reasoning — multi-step analysis, code execution, research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Actions: File editing, code execution, tool calling, system commands</a:t>
            </a:r>
          </a:p>
          <a:p>
            <a:pPr>
              <a:spcBef>
                <a:spcPts val="600"/>
              </a:spcBef>
              <a:defRPr sz="1100" b="0">
                <a:solidFill>
                  <a:srgbClr val="FFFFFF"/>
                </a:solidFill>
              </a:defRPr>
            </a:pPr>
            <a:r>
              <a:t>Orchestration: Agent Teams (up to 10 parallel sub-agents), Agent SDK, Skills marketplace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300" b="1">
                <a:solidFill>
                  <a:srgbClr val="00AA55"/>
                </a:solidFill>
              </a:defRPr>
            </a:pPr>
            <a:r>
              <a:t>Strengths: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Most capable reasoning model. Best for complex multi-step tasks. Open SDK. Agent Teams for parallelism.</a:t>
            </a:r>
          </a:p>
          <a:p>
            <a:pPr>
              <a:spcBef>
                <a:spcPts val="1000"/>
              </a:spcBef>
              <a:defRPr sz="1300" b="1">
                <a:solidFill>
                  <a:srgbClr val="FF6666"/>
                </a:solidFill>
              </a:defRPr>
            </a:pPr>
            <a:r>
              <a:t>Limitations:</a:t>
            </a:r>
          </a:p>
          <a:p>
            <a:pPr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Code-first — not for non-technical users. No native ad connectors. No scheduling/triggers.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43600"/>
            <a:ext cx="10972800" cy="640080"/>
          </a:xfrm>
          <a:prstGeom prst="round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BEST FOR: Developer teams building custom intelligent workflows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0"/>
              </a:spcBef>
              <a:defRPr sz="2200" b="1">
                <a:solidFill>
                  <a:srgbClr val="00D4AA"/>
                </a:solidFill>
              </a:defRPr>
            </a:pPr>
            <a:r>
              <a:t>For a Retail Media / Ad-Tech Context:</a:t>
            </a:r>
          </a:p>
          <a:p>
            <a:pPr>
              <a:spcBef>
                <a:spcPts val="4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800" b="1">
                <a:solidFill>
                  <a:srgbClr val="00AA55"/>
                </a:solidFill>
              </a:defRPr>
            </a:pPr>
            <a:r>
              <a:t>Tier 1: Purpose-Built for Marketing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NinjaCat — if you want the most complete out-of-the-box marketing agent platform (data collection, alerts, analysis, actions, reporting all built in). Best if you need agents that understand ad-tech natively.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800" b="1">
                <a:solidFill>
                  <a:srgbClr val="FFCC00"/>
                </a:solidFill>
              </a:defRPr>
            </a:pPr>
            <a:r>
              <a:t>Tier 2: White-Label &amp; Client-Facing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Akkio — if the goal is giving clients self-service analytics under your brand. Not a full agent platform but the only real white-label option.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800" b="1">
                <a:solidFill>
                  <a:srgbClr val="66BBFF"/>
                </a:solidFill>
              </a:defRPr>
            </a:pPr>
            <a:r>
              <a:t>Tier 3: Build Custom (Most Flexible)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Google Vertex AI — if you have engineering resource and want full control at scale.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Copilot Studio — if you're a Microsoft shop wanting autonomous background agents with triggers.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Claude Agent SDK — if you want the most capable reasoning for complex analysis tasks.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800" b="1">
                <a:solidFill>
                  <a:srgbClr val="666666"/>
                </a:solidFill>
              </a:defRPr>
            </a:pPr>
            <a:r>
              <a:t>Tier 4: General Purpose / Niche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MindStudio (model flexibility), Relevance AI (sales teams), Lyzr (regulated industries), Google Workspace Studio (internal automations)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</a:defRPr>
            </a:pPr>
            <a:r>
              <a:t>Key insight: No single platform covers all 6 agent types well for ad-tech. NinjaCat is closest but lacks white-label. A hybrid approach (NinjaCat + Akkio) may be optimal.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